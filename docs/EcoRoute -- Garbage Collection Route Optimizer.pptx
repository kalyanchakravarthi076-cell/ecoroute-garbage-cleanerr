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46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361440"/>
            <a:ext cx="10566400" cy="468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361440"/>
            <a:ext cx="10566400" cy="468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map with depot, pickup points, truck and optimized rout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59601" y="1828800"/>
            <a:ext cx="4826000" cy="412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578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FB6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AND ANALYSIS OF ALGORITHMS · HACKATHON PROJECT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1284605"/>
            <a:ext cx="627888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EcoRoute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12800" y="2102485"/>
            <a:ext cx="627888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#31. Garbage Collection Route Optimizer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800" y="2615565"/>
            <a:ext cx="588645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B9CD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Algorithm-Driven Waste Collection Using Dijkstra, Greedy and TSP Optimization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31850" y="3342005"/>
            <a:ext cx="0" cy="74676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0760" y="3342005"/>
            <a:ext cx="569285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EcoRoute dynamically selects garbage collection points and generates efficient vehicle routes while considering fill level, priority, vehicle capacity and travel distance.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4266565"/>
            <a:ext cx="6278880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B9CD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City · Waste Management · Route Optimization · Python + Streamlit
Team:  Kadiyala Abhiram (25MVCSMR0311)
             Mohammed Sayfulla (25MVCSMR0330)
             Bollu Partha Saradhi (25MVCSMR0289)
             K. Kanishk (25MVCSMR0319)
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D748DE-78ED-77BE-2A64-00C2E70D6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087" y="91191"/>
            <a:ext cx="2518913" cy="13228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Statement &amp; Need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840981"/>
            <a:ext cx="3105150" cy="2533650"/>
          </a:xfrm>
          <a:prstGeom prst="roundRect">
            <a:avLst>
              <a:gd name="adj" fmla="val 3885"/>
            </a:avLst>
          </a:prstGeom>
          <a:solidFill>
            <a:srgbClr val="FFFFFF"/>
          </a:solidFill>
          <a:ln w="6350">
            <a:solidFill>
              <a:srgbClr val="D5DF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680" y="2020686"/>
            <a:ext cx="282811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3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routes ignore reality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87374" y="2340726"/>
            <a:ext cx="2728798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Some bins are not full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Some bins are overflowing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Vehicles have limited capacity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Points have different priorities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 conditions may change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30675" y="1840981"/>
            <a:ext cx="3105150" cy="2533650"/>
          </a:xfrm>
          <a:prstGeom prst="roundRect">
            <a:avLst>
              <a:gd name="adj" fmla="val 3885"/>
            </a:avLst>
          </a:prstGeom>
          <a:solidFill>
            <a:srgbClr val="FFFFFF"/>
          </a:solidFill>
          <a:ln w="6350">
            <a:solidFill>
              <a:srgbClr val="D5DF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10380" y="2020686"/>
            <a:ext cx="282811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3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Resulting problems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02074" y="2340726"/>
            <a:ext cx="2728798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Unnecessary travel distance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Higher fuel consumption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Increased operational cost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More CO₂ emissions</a:t>
            </a:r>
            <a:endParaRPr lang="en-US" sz="1300" dirty="0"/>
          </a:p>
          <a:p>
            <a:pPr marL="162306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Delayed collection of critical bins</a:t>
            </a:r>
            <a:endParaRPr lang="en-US" sz="1300" dirty="0"/>
          </a:p>
        </p:txBody>
      </p:sp>
      <p:pic>
        <p:nvPicPr>
          <p:cNvPr id="9" name="Image 0" descr="Fixed route zigzags through all bins; optimized route is a short loop through selected bin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42200" y="1837806"/>
            <a:ext cx="3937000" cy="2540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4581006"/>
            <a:ext cx="10566400" cy="939800"/>
          </a:xfrm>
          <a:prstGeom prst="roundRect">
            <a:avLst>
              <a:gd name="adj" fmla="val 10811"/>
            </a:avLst>
          </a:prstGeom>
          <a:solidFill>
            <a:srgbClr val="0F2A24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FB6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 challenge:</a:t>
            </a:r>
            <a:r>
              <a:rPr lang="en-US" sz="15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decide which bins to collect, in what order, by which vehicle, and when the vehicle returns to the depot.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Solution &amp; Main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97582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EcoRoute converts waste collection into a </a:t>
            </a:r>
            <a:r>
              <a:rPr lang="en-US" sz="14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weighted graph optimization problem</a:t>
            </a:r>
            <a:r>
              <a:rPr lang="en-US" sz="14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427949"/>
            <a:ext cx="1455023" cy="629920"/>
          </a:xfrm>
          <a:prstGeom prst="roundRect">
            <a:avLst>
              <a:gd name="adj" fmla="val 12097"/>
            </a:avLst>
          </a:prstGeom>
          <a:solidFill>
            <a:srgbClr val="3FB67A"/>
          </a:solidFill>
          <a:ln/>
        </p:spPr>
        <p:txBody>
          <a:bodyPr wrap="square" lIns="79282" tIns="79282" rIns="28482" bIns="792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Garbage Points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31323" y="2427949"/>
            <a:ext cx="1455103" cy="629920"/>
          </a:xfrm>
          <a:prstGeom prst="roundRect">
            <a:avLst>
              <a:gd name="adj" fmla="val 12097"/>
            </a:avLst>
          </a:prstGeom>
          <a:solidFill>
            <a:srgbClr val="3FB67A"/>
          </a:solidFill>
          <a:ln/>
        </p:spPr>
        <p:txBody>
          <a:bodyPr wrap="square" lIns="79282" tIns="79282" rIns="28482" bIns="792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9926" y="2427949"/>
            <a:ext cx="1455023" cy="629920"/>
          </a:xfrm>
          <a:prstGeom prst="roundRect">
            <a:avLst>
              <a:gd name="adj" fmla="val 12097"/>
            </a:avLst>
          </a:prstGeom>
          <a:solidFill>
            <a:srgbClr val="3FB67A"/>
          </a:solidFill>
          <a:ln/>
        </p:spPr>
        <p:txBody>
          <a:bodyPr wrap="square" lIns="79282" tIns="79282" rIns="28482" bIns="792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Shortest Paths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68449" y="2427949"/>
            <a:ext cx="1455103" cy="629920"/>
          </a:xfrm>
          <a:prstGeom prst="roundRect">
            <a:avLst>
              <a:gd name="adj" fmla="val 12097"/>
            </a:avLst>
          </a:prstGeom>
          <a:solidFill>
            <a:srgbClr val="3FB67A"/>
          </a:solidFill>
          <a:ln/>
        </p:spPr>
        <p:txBody>
          <a:bodyPr wrap="square" lIns="79282" tIns="79282" rIns="28482" bIns="792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 Selection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87052" y="2427949"/>
            <a:ext cx="1455023" cy="629920"/>
          </a:xfrm>
          <a:prstGeom prst="roundRect">
            <a:avLst>
              <a:gd name="adj" fmla="val 12097"/>
            </a:avLst>
          </a:prstGeom>
          <a:solidFill>
            <a:srgbClr val="3FB67A"/>
          </a:solidFill>
          <a:ln/>
        </p:spPr>
        <p:txBody>
          <a:bodyPr wrap="square" lIns="79282" tIns="79282" rIns="28482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 Improvement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05575" y="2427949"/>
            <a:ext cx="1455103" cy="629920"/>
          </a:xfrm>
          <a:prstGeom prst="roundRect">
            <a:avLst>
              <a:gd name="adj" fmla="val 12097"/>
            </a:avLst>
          </a:prstGeom>
          <a:solidFill>
            <a:srgbClr val="3FB67A"/>
          </a:solidFill>
          <a:ln/>
        </p:spPr>
        <p:txBody>
          <a:bodyPr wrap="square" lIns="79282" tIns="79282" rIns="28482" bIns="792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Capacity Check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24177" y="2427949"/>
            <a:ext cx="1455023" cy="629920"/>
          </a:xfrm>
          <a:prstGeom prst="roundRect">
            <a:avLst>
              <a:gd name="adj" fmla="val 12097"/>
            </a:avLst>
          </a:prstGeom>
          <a:solidFill>
            <a:srgbClr val="F2994A"/>
          </a:solidFill>
          <a:ln/>
        </p:spPr>
        <p:txBody>
          <a:bodyPr wrap="square" lIns="79282" tIns="79282" rIns="28482" bIns="792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Optimized Route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3264243"/>
            <a:ext cx="10560050" cy="1776730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 w="6350">
            <a:solidFill>
              <a:srgbClr val="D5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4486" y="3443949"/>
            <a:ext cx="3291119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Exact pickup placement via map clicks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Add/change depot location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Fill-level and priority-based selection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Editable pickup details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Multiple vehicles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Vehicle-capacity constraints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5473" y="3443949"/>
            <a:ext cx="3291200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 route recalculation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Graph-edge road closure simulation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Real-road route visualization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FCFS vs Greedy vs Optimized comparison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Step-by-step algorithm execution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alerts and scenario presets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96539" y="3443949"/>
            <a:ext cx="3291119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 analytics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Fuel and CO₂ estimation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SQLite route history</a:t>
            </a:r>
            <a:endParaRPr lang="en-US" sz="1200" dirty="0"/>
          </a:p>
          <a:p>
            <a:pPr marL="155194" indent="-155194" algn="l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CSV and PDF reports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Algorithms &amp; System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277753"/>
            <a:ext cx="2565400" cy="459740"/>
          </a:xfrm>
          <a:prstGeom prst="roundRect">
            <a:avLst>
              <a:gd name="adj" fmla="val 16575"/>
            </a:avLst>
          </a:prstGeom>
          <a:solidFill>
            <a:srgbClr val="3FB67A"/>
          </a:solidFill>
          <a:ln/>
        </p:spPr>
        <p:txBody>
          <a:bodyPr wrap="square" lIns="91982" tIns="91982" rIns="21878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· Input Locations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9800" y="2277753"/>
            <a:ext cx="2565400" cy="459740"/>
          </a:xfrm>
          <a:prstGeom prst="roundRect">
            <a:avLst>
              <a:gd name="adj" fmla="val 16575"/>
            </a:avLst>
          </a:prstGeom>
          <a:solidFill>
            <a:srgbClr val="3FB67A"/>
          </a:solidFill>
          <a:ln/>
        </p:spPr>
        <p:txBody>
          <a:bodyPr wrap="square" lIns="91982" tIns="91982" rIns="21878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· Weighted Graph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46800" y="2277753"/>
            <a:ext cx="2565400" cy="459740"/>
          </a:xfrm>
          <a:prstGeom prst="roundRect">
            <a:avLst>
              <a:gd name="adj" fmla="val 16575"/>
            </a:avLst>
          </a:prstGeom>
          <a:solidFill>
            <a:srgbClr val="3FB67A"/>
          </a:solidFill>
          <a:ln/>
        </p:spPr>
        <p:txBody>
          <a:bodyPr wrap="square" lIns="91982" tIns="91982" rIns="21878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· Dijkstra Paths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13800" y="2277753"/>
            <a:ext cx="2565400" cy="459740"/>
          </a:xfrm>
          <a:prstGeom prst="roundRect">
            <a:avLst>
              <a:gd name="adj" fmla="val 16575"/>
            </a:avLst>
          </a:prstGeom>
          <a:solidFill>
            <a:srgbClr val="3FB67A"/>
          </a:solidFill>
          <a:ln/>
        </p:spPr>
        <p:txBody>
          <a:bodyPr wrap="square" lIns="91982" tIns="91982" rIns="21878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· Greedy Route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2839092"/>
            <a:ext cx="2565400" cy="459740"/>
          </a:xfrm>
          <a:prstGeom prst="roundRect">
            <a:avLst>
              <a:gd name="adj" fmla="val 16575"/>
            </a:avLst>
          </a:prstGeom>
          <a:solidFill>
            <a:srgbClr val="3FB67A"/>
          </a:solidFill>
          <a:ln/>
        </p:spPr>
        <p:txBody>
          <a:bodyPr wrap="square" lIns="91982" tIns="91982" rIns="21878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· TSP / 2-opt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9800" y="2839092"/>
            <a:ext cx="2565400" cy="459740"/>
          </a:xfrm>
          <a:prstGeom prst="roundRect">
            <a:avLst>
              <a:gd name="adj" fmla="val 16575"/>
            </a:avLst>
          </a:prstGeom>
          <a:solidFill>
            <a:srgbClr val="3FB67A"/>
          </a:solidFill>
          <a:ln/>
        </p:spPr>
        <p:txBody>
          <a:bodyPr wrap="square" lIns="91982" tIns="91982" rIns="21878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· Capacity Check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46800" y="2839092"/>
            <a:ext cx="2565400" cy="459740"/>
          </a:xfrm>
          <a:prstGeom prst="roundRect">
            <a:avLst>
              <a:gd name="adj" fmla="val 16575"/>
            </a:avLst>
          </a:prstGeom>
          <a:solidFill>
            <a:srgbClr val="3FB67A"/>
          </a:solidFill>
          <a:ln/>
        </p:spPr>
        <p:txBody>
          <a:bodyPr wrap="square" lIns="91982" tIns="91982" rIns="21878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· Multi-Vehicle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13800" y="2839092"/>
            <a:ext cx="2565400" cy="459740"/>
          </a:xfrm>
          <a:prstGeom prst="roundRect">
            <a:avLst>
              <a:gd name="adj" fmla="val 16575"/>
            </a:avLst>
          </a:prstGeom>
          <a:solidFill>
            <a:srgbClr val="F2994A"/>
          </a:solidFill>
          <a:ln/>
        </p:spPr>
        <p:txBody>
          <a:bodyPr wrap="square" lIns="91982" tIns="91982" rIns="21878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· Optimized Route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75" y="3505207"/>
            <a:ext cx="3414157" cy="1619250"/>
          </a:xfrm>
          <a:prstGeom prst="roundRect">
            <a:avLst>
              <a:gd name="adj" fmla="val 6078"/>
            </a:avLst>
          </a:prstGeom>
          <a:solidFill>
            <a:srgbClr val="16372F"/>
          </a:solidFill>
          <a:ln w="6350">
            <a:solidFill>
              <a:srgbClr val="2450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5680" y="3684912"/>
            <a:ext cx="31463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6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Dijkstra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5680" y="3992253"/>
            <a:ext cx="31463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Shortest path between graph nodes. Road links are non-negative weighted edges.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5680" y="4695832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99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O((V + E) log V)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8882" y="3505207"/>
            <a:ext cx="3414236" cy="1619250"/>
          </a:xfrm>
          <a:prstGeom prst="roundRect">
            <a:avLst>
              <a:gd name="adj" fmla="val 6078"/>
            </a:avLst>
          </a:prstGeom>
          <a:solidFill>
            <a:srgbClr val="16372F"/>
          </a:solidFill>
          <a:ln w="6350">
            <a:solidFill>
              <a:srgbClr val="2450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8587" y="3684912"/>
            <a:ext cx="314647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6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Greedy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8587" y="3992253"/>
            <a:ext cx="314647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Picks the next point by distance, fill level and priority. Fast initial feasible route.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68587" y="4482473"/>
            <a:ext cx="3146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99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O(n²)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61868" y="3505207"/>
            <a:ext cx="3414157" cy="1619250"/>
          </a:xfrm>
          <a:prstGeom prst="roundRect">
            <a:avLst>
              <a:gd name="adj" fmla="val 6078"/>
            </a:avLst>
          </a:prstGeom>
          <a:solidFill>
            <a:srgbClr val="16372F"/>
          </a:solidFill>
          <a:ln w="6350">
            <a:solidFill>
              <a:srgbClr val="2450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1574" y="3684912"/>
            <a:ext cx="31463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6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TSP / 2-opt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41574" y="3992253"/>
            <a:ext cx="31463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Swaps inefficient edge pairs to improve the greedy route. Exact TSP is too costly, so a heuristic is used.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41574" y="4695832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99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 O(n²) per pass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Streamlit Technology &amp; Architecture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69999"/>
          <a:ext cx="6797040" cy="2854960"/>
        </p:xfrm>
        <a:graphic>
          <a:graphicData uri="http://schemas.openxmlformats.org/drawingml/2006/table">
            <a:tbl>
              <a:tblPr/>
              <a:tblGrid>
                <a:gridCol w="339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Layer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Technology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4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Frontend / UI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Streamlit, Folium, streamlit-folium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Backend / Logic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Python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Database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SQLite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Data handling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Pandas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Map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OpenStreetMap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Road geometry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OSRM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Reporting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ReportLab, CSV export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823200" y="1259839"/>
            <a:ext cx="3556000" cy="383540"/>
          </a:xfrm>
          <a:prstGeom prst="roundRect">
            <a:avLst>
              <a:gd name="adj" fmla="val 16556"/>
            </a:avLst>
          </a:prstGeom>
          <a:solidFill>
            <a:srgbClr val="0F2A24"/>
          </a:solidFill>
          <a:ln/>
        </p:spPr>
        <p:txBody>
          <a:bodyPr wrap="square" lIns="108401" tIns="57601" rIns="9341" bIns="322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823200" y="1706882"/>
            <a:ext cx="3556000" cy="383540"/>
          </a:xfrm>
          <a:prstGeom prst="roundRect">
            <a:avLst>
              <a:gd name="adj" fmla="val 16556"/>
            </a:avLst>
          </a:prstGeom>
          <a:solidFill>
            <a:srgbClr val="0F2A24"/>
          </a:solidFill>
          <a:ln/>
        </p:spPr>
        <p:txBody>
          <a:bodyPr wrap="square" lIns="108401" tIns="57601" rIns="9341" bIns="322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Streamlit Interface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23200" y="2153921"/>
            <a:ext cx="3556000" cy="383540"/>
          </a:xfrm>
          <a:prstGeom prst="roundRect">
            <a:avLst>
              <a:gd name="adj" fmla="val 16556"/>
            </a:avLst>
          </a:prstGeom>
          <a:solidFill>
            <a:srgbClr val="3FB67A"/>
          </a:solidFill>
          <a:ln/>
        </p:spPr>
        <p:txBody>
          <a:bodyPr wrap="square" lIns="108401" tIns="57601" rIns="9341" bIns="322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 Optimization Engine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23200" y="2600961"/>
            <a:ext cx="3556000" cy="383540"/>
          </a:xfrm>
          <a:prstGeom prst="roundRect">
            <a:avLst>
              <a:gd name="adj" fmla="val 16556"/>
            </a:avLst>
          </a:prstGeom>
          <a:solidFill>
            <a:srgbClr val="3FB67A"/>
          </a:solidFill>
          <a:ln/>
        </p:spPr>
        <p:txBody>
          <a:bodyPr wrap="square" lIns="108401" tIns="57601" rIns="9341" bIns="322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Dijkstra + Greedy + 2-opt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23200" y="3048000"/>
            <a:ext cx="3556000" cy="383540"/>
          </a:xfrm>
          <a:prstGeom prst="roundRect">
            <a:avLst>
              <a:gd name="adj" fmla="val 16556"/>
            </a:avLst>
          </a:prstGeom>
          <a:solidFill>
            <a:srgbClr val="0F2A24"/>
          </a:solidFill>
          <a:ln/>
        </p:spPr>
        <p:txBody>
          <a:bodyPr wrap="square" lIns="108401" tIns="57601" rIns="9341" bIns="322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23200" y="3495039"/>
            <a:ext cx="3556000" cy="383540"/>
          </a:xfrm>
          <a:prstGeom prst="roundRect">
            <a:avLst>
              <a:gd name="adj" fmla="val 16556"/>
            </a:avLst>
          </a:prstGeom>
          <a:solidFill>
            <a:srgbClr val="0F2A24"/>
          </a:solidFill>
          <a:ln/>
        </p:spPr>
        <p:txBody>
          <a:bodyPr wrap="square" lIns="108401" tIns="57601" rIns="9341" bIns="322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OSRM / OpenStreetMap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23200" y="3942082"/>
            <a:ext cx="3556000" cy="383540"/>
          </a:xfrm>
          <a:prstGeom prst="roundRect">
            <a:avLst>
              <a:gd name="adj" fmla="val 16556"/>
            </a:avLst>
          </a:prstGeom>
          <a:solidFill>
            <a:srgbClr val="F2994A"/>
          </a:solidFill>
          <a:ln/>
        </p:spPr>
        <p:txBody>
          <a:bodyPr wrap="square" lIns="108401" tIns="57601" rIns="9341" bIns="322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Interactive Route Output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2800" y="4528821"/>
            <a:ext cx="10566400" cy="1031240"/>
          </a:xfrm>
          <a:prstGeom prst="roundRect">
            <a:avLst>
              <a:gd name="adj" fmla="val 9852"/>
            </a:avLst>
          </a:prstGeom>
          <a:solidFill>
            <a:srgbClr val="0F2A24"/>
          </a:solidFill>
          <a:ln/>
        </p:spPr>
      </p:sp>
      <p:sp>
        <p:nvSpPr>
          <p:cNvPr id="12" name="Text 9"/>
          <p:cNvSpPr/>
          <p:nvPr/>
        </p:nvSpPr>
        <p:spPr>
          <a:xfrm>
            <a:off x="990600" y="4706621"/>
            <a:ext cx="105171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DAA algorithms decide which points are visited and in what order. OSRM only projects the already-optimized route onto real drivable roads.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90600" y="5168900"/>
            <a:ext cx="105171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D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optimization runs locally; internet is needed only for map tiles and road geometry.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Results, Demo &amp; Performance</a:t>
            </a:r>
            <a:endParaRPr lang="en-US" sz="3200" dirty="0"/>
          </a:p>
        </p:txBody>
      </p:sp>
      <p:pic>
        <p:nvPicPr>
          <p:cNvPr id="3" name="Image 0" descr="Bar chart of route length: FCFS 23.93 km, Greedy 19.21 km, Greedy plus 2-opt 19.01 k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001707"/>
            <a:ext cx="4826000" cy="292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42000" y="2001707"/>
            <a:ext cx="5537200" cy="1089660"/>
          </a:xfrm>
          <a:prstGeom prst="roundRect">
            <a:avLst>
              <a:gd name="adj" fmla="val 9324"/>
            </a:avLst>
          </a:prstGeom>
          <a:solidFill>
            <a:srgbClr val="0F2A24"/>
          </a:solidFill>
          <a:ln/>
        </p:spPr>
      </p:sp>
      <p:sp>
        <p:nvSpPr>
          <p:cNvPr id="5" name="Text 2"/>
          <p:cNvSpPr/>
          <p:nvPr/>
        </p:nvSpPr>
        <p:spPr>
          <a:xfrm>
            <a:off x="6019800" y="2179507"/>
            <a:ext cx="5337048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3FB6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 20.6%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019800" y="2682429"/>
            <a:ext cx="533704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shorter than FCFS in the sample scenario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45175" y="3221543"/>
            <a:ext cx="5530850" cy="1090930"/>
          </a:xfrm>
          <a:prstGeom prst="roundRect">
            <a:avLst>
              <a:gd name="adj" fmla="val 9022"/>
            </a:avLst>
          </a:prstGeom>
          <a:solidFill>
            <a:srgbClr val="FFFFFF"/>
          </a:solidFill>
          <a:ln w="6350">
            <a:solidFill>
              <a:srgbClr val="D5DFD6"/>
            </a:solidFill>
            <a:prstDash val="solid"/>
          </a:ln>
        </p:spPr>
        <p:txBody>
          <a:bodyPr wrap="square" lIns="150877" tIns="150877" rIns="0" bIns="125477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Also reported: total collected waste · skipped bins · trips · vehicle utilization · fuel usage · CO₂ emissions · real-road ETA </a:t>
            </a:r>
            <a:r>
              <a:rPr lang="en-US" sz="1200" dirty="0">
                <a:solidFill>
                  <a:srgbClr val="6A717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[values from demo run]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5125907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optimized approach cuts unnecessary travel while still serving high-priority, high-fill points.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 &amp;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875486"/>
            <a:ext cx="5200650" cy="2203450"/>
          </a:xfrm>
          <a:prstGeom prst="roundRect">
            <a:avLst>
              <a:gd name="adj" fmla="val 4467"/>
            </a:avLst>
          </a:prstGeom>
          <a:solidFill>
            <a:srgbClr val="16372F"/>
          </a:solidFill>
          <a:ln w="6350">
            <a:solidFill>
              <a:srgbClr val="2450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680" y="2055193"/>
            <a:ext cx="498647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6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Achieved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4486" y="2299033"/>
            <a:ext cx="4880051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Complete Streamlit application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Map-based pickup selection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Dynamic, multi-vehicle routing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Capacity handling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DAA algorithm comparison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Analytics, reports, route history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 closure simulation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5375" y="1875486"/>
            <a:ext cx="5200650" cy="2203450"/>
          </a:xfrm>
          <a:prstGeom prst="roundRect">
            <a:avLst>
              <a:gd name="adj" fmla="val 4467"/>
            </a:avLst>
          </a:prstGeom>
          <a:solidFill>
            <a:srgbClr val="16372F"/>
          </a:solidFill>
          <a:ln w="6350">
            <a:solidFill>
              <a:srgbClr val="245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2055193"/>
            <a:ext cx="498647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99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53886" y="2299033"/>
            <a:ext cx="4880051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IoT smart bins, live fill sensors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GPS truck tracking, live traffic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Automatic daily route generation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Municipal control dashboard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AI/ML garbage prediction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 fleet management</a:t>
            </a:r>
            <a:endParaRPr lang="en-US" sz="1200" dirty="0"/>
          </a:p>
          <a:p>
            <a:pPr marL="155194" indent="-15519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E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CVRP, city-scale deployment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4285311"/>
            <a:ext cx="2052320" cy="416560"/>
          </a:xfrm>
          <a:prstGeom prst="roundRect">
            <a:avLst>
              <a:gd name="adj" fmla="val 18293"/>
            </a:avLst>
          </a:prstGeom>
          <a:solidFill>
            <a:srgbClr val="3FB67A"/>
          </a:solidFill>
          <a:ln/>
        </p:spPr>
        <p:txBody>
          <a:bodyPr wrap="square" lIns="79282" tIns="79282" rIns="23808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Bin Sensors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41320" y="4285311"/>
            <a:ext cx="2052320" cy="416560"/>
          </a:xfrm>
          <a:prstGeom prst="roundRect">
            <a:avLst>
              <a:gd name="adj" fmla="val 18293"/>
            </a:avLst>
          </a:prstGeom>
          <a:solidFill>
            <a:srgbClr val="3FB67A"/>
          </a:solidFill>
          <a:ln/>
        </p:spPr>
        <p:txBody>
          <a:bodyPr wrap="square" lIns="79282" tIns="79282" rIns="23808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Central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69840" y="4285311"/>
            <a:ext cx="2052320" cy="416560"/>
          </a:xfrm>
          <a:prstGeom prst="roundRect">
            <a:avLst>
              <a:gd name="adj" fmla="val 18293"/>
            </a:avLst>
          </a:prstGeom>
          <a:solidFill>
            <a:srgbClr val="3FB67A"/>
          </a:solidFill>
          <a:ln/>
        </p:spPr>
        <p:txBody>
          <a:bodyPr wrap="square" lIns="79282" tIns="79282" rIns="23808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Optimization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98360" y="4285311"/>
            <a:ext cx="2052320" cy="416560"/>
          </a:xfrm>
          <a:prstGeom prst="roundRect">
            <a:avLst>
              <a:gd name="adj" fmla="val 18293"/>
            </a:avLst>
          </a:prstGeom>
          <a:solidFill>
            <a:srgbClr val="3FB67A"/>
          </a:solidFill>
          <a:ln/>
        </p:spPr>
        <p:txBody>
          <a:bodyPr wrap="square" lIns="79282" tIns="79282" rIns="23808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Municipal Fleet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0" y="4285311"/>
            <a:ext cx="2052320" cy="416560"/>
          </a:xfrm>
          <a:prstGeom prst="roundRect">
            <a:avLst>
              <a:gd name="adj" fmla="val 18293"/>
            </a:avLst>
          </a:prstGeom>
          <a:solidFill>
            <a:srgbClr val="F2994A"/>
          </a:solidFill>
          <a:ln/>
        </p:spPr>
        <p:txBody>
          <a:bodyPr wrap="square" lIns="79282" tIns="79282" rIns="23808" bIns="5388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2A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Route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Route — Smart Garbage Collection Route Optimizer">
  <a:themeElements>
    <a:clrScheme name="EcoRoute — Smart Garbage Collection Route Optimizer">
      <a:dk1>
        <a:srgbClr val="0F2A24"/>
      </a:dk1>
      <a:lt1>
        <a:srgbClr val="F3F6F1"/>
      </a:lt1>
      <a:dk2>
        <a:srgbClr val="485D57"/>
      </a:dk2>
      <a:lt2>
        <a:srgbClr val="DCE2DD"/>
      </a:lt2>
      <a:accent1>
        <a:srgbClr val="3FB67A"/>
      </a:accent1>
      <a:accent2>
        <a:srgbClr val="F2994A"/>
      </a:accent2>
      <a:accent3>
        <a:srgbClr val="C2630F"/>
      </a:accent3>
      <a:accent4>
        <a:srgbClr val="B9CDC4"/>
      </a:accent4>
      <a:accent5>
        <a:srgbClr val="9AA0A6"/>
      </a:accent5>
      <a:accent6>
        <a:srgbClr val="6A7C76"/>
      </a:accent6>
      <a:hlink>
        <a:srgbClr val="0563C1"/>
      </a:hlink>
      <a:folHlink>
        <a:srgbClr val="954F72"/>
      </a:folHlink>
    </a:clrScheme>
    <a:fontScheme name="EcoRoute — Smart Garbage Collection Route Optimizer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605</Words>
  <Application>Microsoft Office PowerPoint</Application>
  <PresentationFormat>Widescreen</PresentationFormat>
  <Paragraphs>123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Space Grotesk</vt:lpstr>
      <vt:lpstr>EcoRoute — Smart Garbage Collection Route Optimizer</vt:lpstr>
      <vt:lpstr>EcoRoute</vt:lpstr>
      <vt:lpstr>Problem Statement &amp; Need</vt:lpstr>
      <vt:lpstr>Proposed Solution &amp; Main Features</vt:lpstr>
      <vt:lpstr>Algorithms &amp; System Workflow</vt:lpstr>
      <vt:lpstr>Streamlit Technology &amp; Architecture</vt:lpstr>
      <vt:lpstr>Results, Demo &amp; Performance</vt:lpstr>
      <vt:lpstr>Future Scope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EcoRoute — Smart Garbage Collection Route Optimizer</dc:title>
  <dc:subject/>
  <dc:creator/>
  <cp:lastModifiedBy>Kadiyala Abhiram</cp:lastModifiedBy>
  <cp:revision>4</cp:revision>
  <dcterms:created xsi:type="dcterms:W3CDTF">2026-10-03T08:10:06Z</dcterms:created>
  <dcterms:modified xsi:type="dcterms:W3CDTF">2026-10-03T08:33:25Z</dcterms:modified>
</cp:coreProperties>
</file>